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17"/>
    </p:embeddedFont>
    <p:embeddedFont>
      <p:font typeface="Inter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0127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Infoblox Intelligent CIDR Allocation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9985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Self-service, alignment-aware subnet allocation, delivered through Red Hat Ansible Automation Platform.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12951"/>
            <a:ext cx="4722763" cy="829196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77" y="3228008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5816" y="3190131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"give me a /22 from 10.217.0.0/16"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one click — and one Infoblox API call.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6349" y="400124"/>
            <a:ext cx="4800302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 with Manual CIDR Allocation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3886349" y="1397571"/>
            <a:ext cx="4800302" cy="1168822"/>
          </a:xfrm>
          <a:prstGeom prst="roundRect">
            <a:avLst>
              <a:gd name="adj" fmla="val 586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72061" y="1397571"/>
            <a:ext cx="57150" cy="1168822"/>
          </a:xfrm>
          <a:prstGeom prst="roundRect">
            <a:avLst>
              <a:gd name="adj" fmla="val 96046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4074170" y="1542529"/>
            <a:ext cx="200784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Error-Prone by Design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74170" y="1818903"/>
            <a:ext cx="446752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Engineers hand-pick subnets from spreadsheets or eyeball IPAM — risking overlapping and misaligned blocks that cause outages and painful renumbering.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86349" y="2686869"/>
            <a:ext cx="4800302" cy="967978"/>
          </a:xfrm>
          <a:prstGeom prst="roundRect">
            <a:avLst>
              <a:gd name="adj" fmla="val 708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72061" y="2686869"/>
            <a:ext cx="57150" cy="967978"/>
          </a:xfrm>
          <a:prstGeom prst="roundRect">
            <a:avLst>
              <a:gd name="adj" fmla="val 96046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4074170" y="2831827"/>
            <a:ext cx="182150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🐌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Slow Ticket Queues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74170" y="3108201"/>
            <a:ext cx="446752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request becomes a network team ticket. Lead times stretch from minutes to days, blocking developer and platform teams.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86349" y="3775323"/>
            <a:ext cx="4800302" cy="967978"/>
          </a:xfrm>
          <a:prstGeom prst="roundRect">
            <a:avLst>
              <a:gd name="adj" fmla="val 708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72061" y="3775323"/>
            <a:ext cx="57150" cy="967978"/>
          </a:xfrm>
          <a:prstGeom prst="roundRect">
            <a:avLst>
              <a:gd name="adj" fmla="val 96046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4074170" y="392028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🚫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No Self-Service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74170" y="4196655"/>
            <a:ext cx="446752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deterministic, rules-based task requires human intervention. There's no automation path for a predictable, repeatable process.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8826"/>
            <a:ext cx="46400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Solution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1533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one-form, self-service request that returns the next valid subnet and reserves it automatically.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01614"/>
            <a:ext cx="2717229" cy="567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7877" y="23104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Launch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616919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 launches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"Allocate Infoblox CIDR"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AAP job template and fills a short survey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601614"/>
            <a:ext cx="2717229" cy="567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5107" y="23104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355107" y="2616919"/>
            <a:ext cx="24337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queries Infoblox for existing allocations and computes the next aligned, non-overlapping block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601614"/>
            <a:ext cx="2717229" cy="567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72336" y="23104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Reserve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72336" y="2616919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Reserves the result via a single Infoblox API call — supports both NIOS Grid and Universal DDI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96119" y="3825404"/>
            <a:ext cx="8151763" cy="829196"/>
          </a:xfrm>
          <a:prstGeom prst="roundRect">
            <a:avLst>
              <a:gd name="adj" fmla="val 7181"/>
            </a:avLst>
          </a:prstGeom>
          <a:solidFill>
            <a:srgbClr val="B6FCB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4040460"/>
            <a:ext cx="177180" cy="1417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6816" y="4002584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Ansible Automation Platform — governance, RBAC, audit logging, and encrypted secret storage included.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583629"/>
            <a:ext cx="1047601" cy="260821"/>
          </a:xfrm>
          <a:prstGeom prst="roundRect">
            <a:avLst>
              <a:gd name="adj" fmla="val 1797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72095" y="625450"/>
            <a:ext cx="133737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899368"/>
            <a:ext cx="3913436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"Alignment-Aware" Matters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88379" y="1908870"/>
            <a:ext cx="3913436" cy="1466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subnet must start on an address evenly divisible by its block size. This is not optional — it is enforced by routers and IPAM systems alike.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Requesting a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/22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(1,024 addresses) inside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10.217.0.0/16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means valid answers are only: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10.217.0.0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10.217.4.0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10.217.8.0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10.217.1.0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8379" y="3529980"/>
            <a:ext cx="3913436" cy="1029891"/>
          </a:xfrm>
          <a:prstGeom prst="roundRect">
            <a:avLst>
              <a:gd name="adj" fmla="val 5691"/>
            </a:avLst>
          </a:prstGeom>
          <a:solidFill>
            <a:srgbClr val="FCF2B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906" y="3739381"/>
            <a:ext cx="174427" cy="1395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59" y="3702174"/>
            <a:ext cx="332043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Misaligned subnets are rejected by routers. Humans get this wrong under time pressure.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algorithm never does.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947" y="615032"/>
            <a:ext cx="3913436" cy="391343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947" y="615032"/>
            <a:ext cx="3913436" cy="39134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365745"/>
            <a:ext cx="787078" cy="248543"/>
          </a:xfrm>
          <a:prstGeom prst="roundRect">
            <a:avLst>
              <a:gd name="adj" fmla="val 17668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0469" y="409649"/>
            <a:ext cx="107803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662434"/>
            <a:ext cx="832239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Allocation Algorithm — 5 Deterministic Steps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136" y="1251496"/>
            <a:ext cx="7965728" cy="2989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25333" y="3399215"/>
            <a:ext cx="1201453" cy="46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Reserve in Infoblox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282574" y="3514937"/>
            <a:ext cx="1430052" cy="23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Apply policy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05244" y="3399215"/>
            <a:ext cx="1201453" cy="46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Remove overlaps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499313" y="3399215"/>
            <a:ext cx="1201453" cy="46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Generate candidates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866" y="3514937"/>
            <a:ext cx="1430053" cy="23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 children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7349" y="4376068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selection logic lives in a single, unit-tested Python filter plugin —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cidr_allocation.py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making the algorithm portable, testable, and platform-agnostic.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62" y="428476"/>
            <a:ext cx="4784675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Dual-Platform Support &amp; Automatic Dispatch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894162" y="1445940"/>
            <a:ext cx="4784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solution. Two Infoblox backends. Selected automatically by the credential attached to the job.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894162" y="2122587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On-Prem: NIOS Grid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94162" y="2454846"/>
            <a:ext cx="2230264" cy="125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the certified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infoblox.nios_modules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collection. Credential injects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infoblox_platform = nios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dynamically including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discover_nios.yml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reserve_nios.yml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53336" y="2122587"/>
            <a:ext cx="21233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Cloud: Universal DDI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53336" y="2454846"/>
            <a:ext cx="2230264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the certified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infoblox.universal_ddi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collection. Credential injects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infoblox_platform = universal_ddi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right backend runs with no extra prompts.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94162" y="3966716"/>
            <a:ext cx="4784675" cy="748233"/>
          </a:xfrm>
          <a:prstGeom prst="roundRect">
            <a:avLst>
              <a:gd name="adj" fmla="val 7460"/>
            </a:avLst>
          </a:prstGeom>
          <a:solidFill>
            <a:srgbClr val="C7C9E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066" y="4164137"/>
            <a:ext cx="166092" cy="132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26062" y="4124474"/>
            <a:ext cx="421987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allocation math is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identical for both platforms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No extra operator input required — just attach the correct credential type.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302716"/>
            <a:ext cx="708794" cy="177850"/>
          </a:xfrm>
          <a:prstGeom prst="roundRect">
            <a:avLst>
              <a:gd name="adj" fmla="val 1966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1042615" y="333896"/>
            <a:ext cx="104112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SELF-SERVICE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511076"/>
            <a:ext cx="4048199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Survey: One Short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0182" y="951086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Ansible knowledge required. The operator fills a version-controlled survey attached to the job template.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80182" y="1181472"/>
            <a:ext cx="7183562" cy="624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4470" y="1195760"/>
            <a:ext cx="416421" cy="596057"/>
          </a:xfrm>
          <a:prstGeom prst="roundRect">
            <a:avLst>
              <a:gd name="adj" fmla="val 6383"/>
            </a:avLst>
          </a:prstGeom>
          <a:solidFill>
            <a:srgbClr val="DADBF1"/>
          </a:solidFill>
          <a:ln/>
        </p:spPr>
      </p:sp>
      <p:sp>
        <p:nvSpPr>
          <p:cNvPr id="8" name="Text 6"/>
          <p:cNvSpPr/>
          <p:nvPr/>
        </p:nvSpPr>
        <p:spPr>
          <a:xfrm>
            <a:off x="1122238" y="1396157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7314" y="1299865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cidr_parent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87314" y="1508373"/>
            <a:ext cx="6558037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 container — e.g.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10.217.0.0/16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80182" y="1882527"/>
            <a:ext cx="7183562" cy="624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470" y="1896814"/>
            <a:ext cx="416421" cy="596057"/>
          </a:xfrm>
          <a:prstGeom prst="roundRect">
            <a:avLst>
              <a:gd name="adj" fmla="val 6383"/>
            </a:avLst>
          </a:prstGeom>
          <a:solidFill>
            <a:srgbClr val="DADBF1"/>
          </a:solidFill>
          <a:ln/>
        </p:spPr>
      </p:sp>
      <p:sp>
        <p:nvSpPr>
          <p:cNvPr id="13" name="Text 11"/>
          <p:cNvSpPr/>
          <p:nvPr/>
        </p:nvSpPr>
        <p:spPr>
          <a:xfrm>
            <a:off x="1122238" y="2097212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7314" y="200092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cidr_prefix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87314" y="2209428"/>
            <a:ext cx="6558037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Desired prefix length — e.g.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(must be more specific than parent)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80182" y="2583582"/>
            <a:ext cx="7183562" cy="624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4470" y="2597869"/>
            <a:ext cx="416421" cy="596057"/>
          </a:xfrm>
          <a:prstGeom prst="roundRect">
            <a:avLst>
              <a:gd name="adj" fmla="val 6383"/>
            </a:avLst>
          </a:prstGeom>
          <a:solidFill>
            <a:srgbClr val="DADBF1"/>
          </a:solidFill>
          <a:ln/>
        </p:spPr>
      </p:sp>
      <p:sp>
        <p:nvSpPr>
          <p:cNvPr id="18" name="Text 16"/>
          <p:cNvSpPr/>
          <p:nvPr/>
        </p:nvSpPr>
        <p:spPr>
          <a:xfrm>
            <a:off x="1122238" y="2798266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7314" y="2701975"/>
            <a:ext cx="138253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cidr_allocation_policy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87314" y="2910483"/>
            <a:ext cx="6558037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first-fit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(lowest slot) or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last-fit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(highest slot)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80182" y="3284637"/>
            <a:ext cx="7183562" cy="624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4470" y="3298924"/>
            <a:ext cx="416421" cy="596057"/>
          </a:xfrm>
          <a:prstGeom prst="roundRect">
            <a:avLst>
              <a:gd name="adj" fmla="val 6383"/>
            </a:avLst>
          </a:prstGeom>
          <a:solidFill>
            <a:srgbClr val="DADBF1"/>
          </a:solidFill>
          <a:ln/>
        </p:spPr>
      </p:sp>
      <p:sp>
        <p:nvSpPr>
          <p:cNvPr id="23" name="Text 21"/>
          <p:cNvSpPr/>
          <p:nvPr/>
        </p:nvSpPr>
        <p:spPr>
          <a:xfrm>
            <a:off x="1122238" y="3499321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87314" y="3403029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cidr_dry_run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87314" y="3611538"/>
            <a:ext cx="6558037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and display the result without reserving — safe preview mode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80182" y="3985692"/>
            <a:ext cx="7183562" cy="624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4470" y="3999979"/>
            <a:ext cx="416421" cy="596057"/>
          </a:xfrm>
          <a:prstGeom prst="roundRect">
            <a:avLst>
              <a:gd name="adj" fmla="val 6383"/>
            </a:avLst>
          </a:prstGeom>
          <a:solidFill>
            <a:srgbClr val="DADBF1"/>
          </a:solidFill>
          <a:ln/>
        </p:spPr>
      </p:sp>
      <p:sp>
        <p:nvSpPr>
          <p:cNvPr id="28" name="Text 26"/>
          <p:cNvSpPr/>
          <p:nvPr/>
        </p:nvSpPr>
        <p:spPr>
          <a:xfrm>
            <a:off x="1122238" y="4200376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87314" y="410408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cidr_comment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87314" y="4312593"/>
            <a:ext cx="6558037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Free-text justification recorded on the new Infoblox object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80182" y="4696271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Platform-specific extras: NIOS adds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cidr_network_view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Universal DDI adds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cidr_ip_space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cidr_object_type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75104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&amp; Config-as-Code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1744787"/>
            <a:ext cx="25204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Separation of Concerns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011263"/>
            <a:ext cx="3759622" cy="329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allocate_cidr.yml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job-template entry point. The role drives all Infoblox API calls from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localhost — no managed nodes required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714503" y="2430735"/>
            <a:ext cx="267302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Idempotent Setup Playbook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714503" y="2697212"/>
            <a:ext cx="3759622" cy="496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configure_aap.yml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provisions every AAP object automatically. New adopters only edit simple 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group_vars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(EE image path and Git URL).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UI clicking required.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714503" y="3295055"/>
            <a:ext cx="3759622" cy="580355"/>
          </a:xfrm>
          <a:prstGeom prst="roundRect">
            <a:avLst>
              <a:gd name="adj" fmla="val 8176"/>
            </a:avLst>
          </a:prstGeom>
          <a:solidFill>
            <a:srgbClr val="B6D6F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463" y="3456384"/>
            <a:ext cx="141163" cy="1129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81587" y="3413224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Re-runnable and idempotent — safe to execute multiple times without side effects.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403101"/>
            <a:ext cx="4868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&amp; Certified Content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449610" y="979140"/>
            <a:ext cx="2349698" cy="2214265"/>
          </a:xfrm>
          <a:prstGeom prst="roundRect">
            <a:avLst>
              <a:gd name="adj" fmla="val 243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2811" y="1112341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777" y="1218307"/>
            <a:ext cx="173385" cy="1733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2811" y="1614115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Secrets Stay in AAP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82811" y="1884611"/>
            <a:ext cx="2083296" cy="117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credential types map host, username, password, and API key to environment variables at runtime. Secret values are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in AAP's credential store — never in Git.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915692" y="979140"/>
            <a:ext cx="2349698" cy="2214265"/>
          </a:xfrm>
          <a:prstGeom prst="roundRect">
            <a:avLst>
              <a:gd name="adj" fmla="val 243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048893" y="1112341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4950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4859" y="1218307"/>
            <a:ext cx="173385" cy="1733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48893" y="1614115"/>
            <a:ext cx="201781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Certified Collections Only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3048893" y="1884611"/>
            <a:ext cx="2083296" cy="793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Red Hat certified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infoblox.nios_modules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infoblox.universal_ddi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unverified community content.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49610" y="3309789"/>
            <a:ext cx="4815780" cy="1430536"/>
          </a:xfrm>
          <a:prstGeom prst="roundRect">
            <a:avLst>
              <a:gd name="adj" fmla="val 37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82811" y="3442990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4950B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8777" y="3548955"/>
            <a:ext cx="173385" cy="17338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2811" y="394476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Tested &amp; Auditable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82811" y="4215259"/>
            <a:ext cx="454937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alignment algorithm is covered by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pytest unit tests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Dry-run mode safely previews any allocation before it is committed to Infoblox.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55873"/>
            <a:ext cx="1211312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98363"/>
            <a:ext cx="149840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STARTED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78979"/>
            <a:ext cx="799207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 Steps to Self-Service CIDR Allocation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708720" y="2101602"/>
            <a:ext cx="2410048" cy="141759"/>
          </a:xfrm>
          <a:prstGeom prst="roundRect">
            <a:avLst>
              <a:gd name="adj" fmla="val 420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1959806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456" y="2066144"/>
            <a:ext cx="212601" cy="2126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7877" y="25268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Install &amp; Build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877" y="2833390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the certified Infoblox collections and build/push the Execution Environment image to your registry.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3202" y="1888927"/>
            <a:ext cx="2410048" cy="141759"/>
          </a:xfrm>
          <a:prstGeom prst="roundRect">
            <a:avLst>
              <a:gd name="adj" fmla="val 420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0601" y="1747131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6939" y="1853468"/>
            <a:ext cx="212601" cy="21260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2360" y="2314203"/>
            <a:ext cx="18764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Provision &amp; Configure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02360" y="2620714"/>
            <a:ext cx="2339206" cy="912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configure_aap.yml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provision all AAP objects automatically, then set real Infoblox credentials once in the UI.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37684" y="1676326"/>
            <a:ext cx="2410048" cy="141759"/>
          </a:xfrm>
          <a:prstGeom prst="roundRect">
            <a:avLst>
              <a:gd name="adj" fmla="val 420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25083" y="1534530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1421" y="1640867"/>
            <a:ext cx="212601" cy="21260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66842" y="21016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Launch &amp; Allocate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166842" y="2408113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"Allocate Infoblox CIDR,"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fill the survey, and receive an aligned, reserved subnet in seconds — every time.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08720" y="4201344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spreadsheet guesswork to deterministic self-service — powered by Ansible Automation Platform.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96119" y="4041874"/>
            <a:ext cx="19050" cy="545753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2026-05-26T19:47:30Z</dcterms:created>
  <dcterms:modified xsi:type="dcterms:W3CDTF">2026-05-26T19:47:30Z</dcterms:modified>
</cp:coreProperties>
</file>